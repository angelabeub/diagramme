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Implémentation d'un Système de Paiement Mobile Money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Équipe projet : Produit, Développement, Sécurité</a:t>
            </a:r>
          </a:p>
          <a:p>
            <a:r>
              <a:t>Période : Janvier – Juin 2025</a:t>
            </a:r>
          </a:p>
          <a:p>
            <a:r>
              <a:t>Client : Application Mobile Money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et 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Croissance des transactions digitales dans la région</a:t>
            </a:r>
          </a:p>
          <a:p>
            <a:pPr/>
            <a:r>
              <a:t>Besoin d'unifier l'expérience de paiement au sein de l'application</a:t>
            </a:r>
          </a:p>
          <a:p>
            <a:pPr/>
            <a:r>
              <a:t>Exigence de conformité avec les régulations financières locales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Permettre des paiements sécurisés et instantanés</a:t>
            </a:r>
          </a:p>
          <a:p>
            <a:pPr/>
            <a:r>
              <a:t>Réduire le temps de traitement et le nombre d'échecs</a:t>
            </a:r>
          </a:p>
          <a:p>
            <a:pPr/>
            <a:r>
              <a:t>Améliorer la satisfaction client par une interface fluide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Analyse des besoins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Profil utilisateur : agents marchands, clients finaux, support</a:t>
            </a:r>
          </a:p>
          <a:p>
            <a:pPr/>
            <a:r>
              <a:t>Fonctionnalités clés : recharges, transferts, paiement marchand</a:t>
            </a:r>
          </a:p>
          <a:p>
            <a:pPr/>
            <a:r>
              <a:t>Contraintes : disponibilité 24/7, couverture réseau, faible latence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cible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mobile (Android/iOS) connectée à une API Gateway</a:t>
            </a:r>
          </a:p>
          <a:p>
            <a:pPr/>
            <a:r>
              <a:t>Microservices Paiement, KYC, Notification, Reporting</a:t>
            </a:r>
          </a:p>
          <a:p>
            <a:pPr/>
            <a:r>
              <a:t>Intégration aux systèmes Core Banking et opérateurs Mobile Money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Choix technologiques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: Java Spring Boot / Node.js pour la rapidité d'itération</a:t>
            </a:r>
          </a:p>
          <a:p>
            <a:pPr/>
            <a:r>
              <a:t>Base de données : PostgreSQL + Redis pour la mise en cache</a:t>
            </a:r>
          </a:p>
          <a:p>
            <a:pPr/>
            <a:r>
              <a:t>Messaging : Kafka pour l'orchestration des événements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Parcours utilisateur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Connexion biométrique ou OTP en moins de 5 secondes</a:t>
            </a:r>
          </a:p>
          <a:p>
            <a:pPr/>
            <a:r>
              <a:t>Sélection du service : transfert, paiement facture, cash-out</a:t>
            </a:r>
          </a:p>
          <a:p>
            <a:pPr/>
            <a:r>
              <a:t>Confirmation avec double facteur (PIN + push notification)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Flux de paiement sécurisé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Initiation → Pré-validation → Autorisation → Confirmation</a:t>
            </a:r>
          </a:p>
          <a:p>
            <a:pPr/>
            <a:r>
              <a:t>Vérification du solde en temps réel et verrouillage des fonds</a:t>
            </a:r>
          </a:p>
          <a:p>
            <a:pPr/>
            <a:r>
              <a:t>Notifications multi-canaux (SMS, in-app, email)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Intégration Mobile Money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Connecteurs API pour MTN, Orange, Moov conformément aux spécifications</a:t>
            </a:r>
          </a:p>
          <a:p>
            <a:pPr/>
            <a:r>
              <a:t>Gestion des jetons d'accès et renouvellement automatique</a:t>
            </a:r>
          </a:p>
          <a:p>
            <a:pPr/>
            <a:r>
              <a:t>Surveillance des files d'attente et relance en cas de latence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Sécurité et conformité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Chiffrement bout en bout (TLS 1.3, AES-256)</a:t>
            </a:r>
          </a:p>
          <a:p>
            <a:pPr/>
            <a:r>
              <a:t>Gestion des clés via HSM et rotation trimestrielle</a:t>
            </a:r>
          </a:p>
          <a:p>
            <a:pPr/>
            <a:r>
              <a:t>Audit trail complet conforme PCI DSS et régulateur local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Tests et qualité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Tests unitaires, d'intégration, charge (5 000 trx/min)</a:t>
            </a:r>
          </a:p>
          <a:p>
            <a:pPr/>
            <a:r>
              <a:t>Environnements : sandbox opérateurs, pré-production, production</a:t>
            </a:r>
          </a:p>
          <a:p>
            <a:pPr/>
            <a:r>
              <a:t>Plan de tests utilisateurs avec 50 marchands pilotes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Indicateurs de succès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Taux de réussite des transactions ≥ 98 %</a:t>
            </a:r>
          </a:p>
          <a:p>
            <a:pPr/>
            <a:r>
              <a:t>Temps moyen de traitement &lt; 4 secondes</a:t>
            </a:r>
          </a:p>
          <a:p>
            <a:pPr/>
            <a:r>
              <a:t>Réduction de 30 % du volume d'appels au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Organisation du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Méthodologie agile (sprints de 2 semaines)</a:t>
            </a:r>
          </a:p>
          <a:p>
            <a:pPr/>
            <a:r>
              <a:t>Comité de pilotage bimensuel et reporting finance</a:t>
            </a:r>
          </a:p>
          <a:p>
            <a:pPr/>
            <a:r>
              <a:t>Partenariats opérateurs sécurisés par des SLA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 et jalons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M01-M02 : cadrage et conception détaillée</a:t>
            </a:r>
          </a:p>
          <a:p>
            <a:pPr/>
            <a:r>
              <a:t>M03-M04 : développement et intégrations API</a:t>
            </a:r>
          </a:p>
          <a:p>
            <a:pPr/>
            <a:r>
              <a:t>M05-M06 : tests, formation, déploiement progressif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Budget et ROI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CapEx : infrastructure cloud, licences, frais de certification</a:t>
            </a:r>
          </a:p>
          <a:p>
            <a:pPr/>
            <a:r>
              <a:t>OpEx : support 24/7, monitoring, évolutions réglementaires</a:t>
            </a:r>
          </a:p>
          <a:p>
            <a:pPr/>
            <a:r>
              <a:t>ROI estimé en 18 mois grâce à +25 % de transactions digitales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Gestion des risques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 de continuité : redondance multi-région, bascule automatique</a:t>
            </a:r>
          </a:p>
          <a:p>
            <a:pPr/>
            <a:r>
              <a:t>Surveillance des fraudes avec moteur de règles et scoring IA</a:t>
            </a:r>
          </a:p>
          <a:p>
            <a:pPr/>
            <a:r>
              <a:t>Programme de formation utilisateurs et support renforcé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Perspectives et évolutions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Ouverture à des prestataires tiers (QR code, NFC)</a:t>
            </a:r>
          </a:p>
          <a:p>
            <a:pPr/>
            <a:r>
              <a:t>Programme de fidélité et cashback intégré</a:t>
            </a:r>
          </a:p>
          <a:p>
            <a:pPr/>
            <a:r>
              <a:t>Tableau de bord analytique temps réel pour les marchands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Solution robuste, sécurisée et centrée sur l'utilisateur</a:t>
            </a:r>
          </a:p>
          <a:p>
            <a:pPr/>
            <a:r>
              <a:t>Alignement avec la stratégie de digitalisation de l'entreprise</a:t>
            </a:r>
          </a:p>
          <a:p>
            <a:pPr/>
            <a:r>
              <a:t>Prochaine étape : industrialisation et support post-lancement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Questions / Réponses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Merci pour votre attention</a:t>
            </a:r>
          </a:p>
          <a:p>
            <a:pPr/>
            <a:r>
              <a:t>Ouverture aux questions et retours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